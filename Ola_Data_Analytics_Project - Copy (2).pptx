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E600"/>
              </a:solidFill>
              <a:effectLst/>
            </c:spPr>
          </c:dPt>
          <c:dPt>
            <c:idx val="1"/>
            <c:bubble3D val="0"/>
            <c:spPr>
              <a:solidFill>
                <a:srgbClr val="6B6B00"/>
              </a:solidFill>
              <a:effectLst/>
            </c:spPr>
          </c:dPt>
          <c:dPt>
            <c:idx val="2"/>
            <c:bubble3D val="0"/>
            <c:spPr>
              <a:solidFill>
                <a:srgbClr val="3D3D3D"/>
              </a:solidFill>
              <a:effectLst/>
            </c:spPr>
          </c:dPt>
          <c:dPt>
            <c:idx val="3"/>
            <c:bubble3D val="0"/>
            <c:spPr>
              <a:solidFill>
                <a:srgbClr val="FF5C7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Success</c:v>
                </c:pt>
                <c:pt idx="1">
                  <c:v>Canceled by Driver</c:v>
                </c:pt>
                <c:pt idx="2">
                  <c:v>Canceled by Customer</c:v>
                </c:pt>
                <c:pt idx="3">
                  <c:v>Driver Not Found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25207</c:v>
                </c:pt>
                <c:pt idx="1">
                  <c:v>7212</c:v>
                </c:pt>
                <c:pt idx="2">
                  <c:v>4079</c:v>
                </c:pt>
                <c:pt idx="3">
                  <c:v>4041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A6A6A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C6E600"/>
            </a:solidFill>
            <a:ln w="31750" cap="flat">
              <a:solidFill>
                <a:srgbClr val="C6E6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E600"/>
              </a:solidFill>
              <a:ln w="9525" cap="flat">
                <a:solidFill>
                  <a:srgbClr val="C6E6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01</c:v>
                  </c:pt>
                  <c:pt idx="1">
                    <c:v>03</c:v>
                  </c:pt>
                  <c:pt idx="2">
                    <c:v>05</c:v>
                  </c:pt>
                  <c:pt idx="3">
                    <c:v>07</c:v>
                  </c:pt>
                  <c:pt idx="4">
                    <c:v>09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  <c:pt idx="8">
                    <c:v>17</c:v>
                  </c:pt>
                  <c:pt idx="9">
                    <c:v>19</c:v>
                  </c:pt>
                  <c:pt idx="10">
                    <c:v>21</c:v>
                  </c:pt>
                  <c:pt idx="11">
                    <c:v>23</c:v>
                  </c:pt>
                  <c:pt idx="12">
                    <c:v>25</c:v>
                  </c:pt>
                  <c:pt idx="13">
                    <c:v>27</c:v>
                  </c:pt>
                  <c:pt idx="14">
                    <c:v>29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1360</c:v>
                </c:pt>
                <c:pt idx="1">
                  <c:v>1415</c:v>
                </c:pt>
                <c:pt idx="2">
                  <c:v>1330</c:v>
                </c:pt>
                <c:pt idx="3">
                  <c:v>1372</c:v>
                </c:pt>
                <c:pt idx="4">
                  <c:v>1305</c:v>
                </c:pt>
                <c:pt idx="5">
                  <c:v>1345</c:v>
                </c:pt>
                <c:pt idx="6">
                  <c:v>1300</c:v>
                </c:pt>
                <c:pt idx="7">
                  <c:v>1362</c:v>
                </c:pt>
                <c:pt idx="8">
                  <c:v>1420</c:v>
                </c:pt>
                <c:pt idx="9">
                  <c:v>1345</c:v>
                </c:pt>
                <c:pt idx="10">
                  <c:v>1360</c:v>
                </c:pt>
                <c:pt idx="11">
                  <c:v>1290</c:v>
                </c:pt>
                <c:pt idx="12">
                  <c:v>1330</c:v>
                </c:pt>
                <c:pt idx="13">
                  <c:v>1362</c:v>
                </c:pt>
                <c:pt idx="14">
                  <c:v>1405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A6A6A6"/>
                    </a:solidFill>
                    <a:latin typeface="Arial"/>
                  </a:rPr>
                  <a:t>Date (Jul 2024)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A6A6A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A6A6A6"/>
                    </a:solidFill>
                    <a:latin typeface="Arial"/>
                  </a:rPr>
                  <a:t>Rides / Day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2"/>
        </a:solidFill>
        <a:ln>
          <a:noFill/>
        </a:ln>
        <a:effectLst/>
      </c:spPr>
    </c:plotArea>
    <c:plotVisOnly val="1"/>
    <c:dispBlanksAs val="span"/>
  </c:chart>
  <c:spPr>
    <a:solidFill>
      <a:srgbClr val="12121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Sum of Booking Value (₹M)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 Value</c:v>
                </c:pt>
              </c:strCache>
            </c:strRef>
          </c:tx>
          <c:spPr>
            <a:solidFill>
              <a:srgbClr val="C6E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Cash</c:v>
                  </c:pt>
                  <c:pt idx="1">
                    <c:v>UPI</c:v>
                  </c:pt>
                  <c:pt idx="2">
                    <c:v>Credit Card</c:v>
                  </c:pt>
                  <c:pt idx="3">
                    <c:v>Debit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7.6</c:v>
                </c:pt>
                <c:pt idx="1">
                  <c:v>6.1</c:v>
                </c:pt>
                <c:pt idx="2">
                  <c:v>0.6</c:v>
                </c:pt>
                <c:pt idx="3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262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2"/>
        </a:solidFill>
        <a:ln>
          <a:noFill/>
        </a:ln>
        <a:effectLst/>
      </c:spPr>
    </c:plotArea>
    <c:plotVisOnly val="1"/>
    <c:dispBlanksAs val="span"/>
  </c:chart>
  <c:spPr>
    <a:solidFill>
      <a:srgbClr val="12121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 Distance</c:v>
                </c:pt>
              </c:strCache>
            </c:strRef>
          </c:tx>
          <c:spPr>
            <a:solidFill>
              <a:srgbClr val="8FAE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01</c:v>
                  </c:pt>
                  <c:pt idx="1">
                    <c:v>04</c:v>
                  </c:pt>
                  <c:pt idx="2">
                    <c:v>07</c:v>
                  </c:pt>
                  <c:pt idx="3">
                    <c:v>10</c:v>
                  </c:pt>
                  <c:pt idx="4">
                    <c:v>13</c:v>
                  </c:pt>
                  <c:pt idx="5">
                    <c:v>16</c:v>
                  </c:pt>
                  <c:pt idx="6">
                    <c:v>19</c:v>
                  </c:pt>
                  <c:pt idx="7">
                    <c:v>22</c:v>
                  </c:pt>
                  <c:pt idx="8">
                    <c:v>25</c:v>
                  </c:pt>
                  <c:pt idx="9">
                    <c:v>28</c:v>
                  </c:pt>
                  <c:pt idx="10">
                    <c:v>30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19.5</c:v>
                </c:pt>
                <c:pt idx="1">
                  <c:v>18.2</c:v>
                </c:pt>
                <c:pt idx="2">
                  <c:v>17</c:v>
                </c:pt>
                <c:pt idx="3">
                  <c:v>15.5</c:v>
                </c:pt>
                <c:pt idx="4">
                  <c:v>20.5</c:v>
                </c:pt>
                <c:pt idx="5">
                  <c:v>18.8</c:v>
                </c:pt>
                <c:pt idx="6">
                  <c:v>16.2</c:v>
                </c:pt>
                <c:pt idx="7">
                  <c:v>12.5</c:v>
                </c:pt>
                <c:pt idx="8">
                  <c:v>18</c:v>
                </c:pt>
                <c:pt idx="9">
                  <c:v>19.5</c:v>
                </c:pt>
                <c:pt idx="10">
                  <c:v>20.8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6262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2"/>
        </a:solidFill>
        <a:ln>
          <a:noFill/>
        </a:ln>
        <a:effectLst/>
      </c:spPr>
    </c:plotArea>
    <c:plotVisOnly val="1"/>
    <c:dispBlanksAs val="span"/>
  </c:chart>
  <c:spPr>
    <a:solidFill>
      <a:srgbClr val="12121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By Customer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E600"/>
              </a:solidFill>
              <a:effectLst/>
            </c:spPr>
          </c:dPt>
          <c:dPt>
            <c:idx val="1"/>
            <c:bubble3D val="0"/>
            <c:spPr>
              <a:solidFill>
                <a:srgbClr val="5CA8FF"/>
              </a:solidFill>
              <a:effectLst/>
            </c:spPr>
          </c:dPt>
          <c:dPt>
            <c:idx val="2"/>
            <c:bubble3D val="0"/>
            <c:spPr>
              <a:solidFill>
                <a:srgbClr val="6B6B00"/>
              </a:solidFill>
              <a:effectLst/>
            </c:spPr>
          </c:dPt>
          <c:dPt>
            <c:idx val="3"/>
            <c:bubble3D val="0"/>
            <c:spPr>
              <a:solidFill>
                <a:srgbClr val="FF5C7A"/>
              </a:solidFill>
              <a:effectLst/>
            </c:spPr>
          </c:dPt>
          <c:dPt>
            <c:idx val="4"/>
            <c:bubble3D val="0"/>
            <c:spPr>
              <a:solidFill>
                <a:srgbClr val="5A5A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Driver not moving to pickup</c:v>
                </c:pt>
                <c:pt idx="1">
                  <c:v>Driver asked to cancel</c:v>
                </c:pt>
                <c:pt idx="2">
                  <c:v>Change of plans</c:v>
                </c:pt>
                <c:pt idx="3">
                  <c:v>AC not working</c:v>
                </c:pt>
                <c:pt idx="4">
                  <c:v>Wrong address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1220</c:v>
                </c:pt>
                <c:pt idx="1">
                  <c:v>1060</c:v>
                </c:pt>
                <c:pt idx="2">
                  <c:v>800</c:v>
                </c:pt>
                <c:pt idx="3">
                  <c:v>610</c:v>
                </c:pt>
                <c:pt idx="4">
                  <c:v>390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A6A6A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By Driver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C7A"/>
              </a:solidFill>
              <a:effectLst/>
            </c:spPr>
          </c:dPt>
          <c:dPt>
            <c:idx val="1"/>
            <c:bubble3D val="0"/>
            <c:spPr>
              <a:solidFill>
                <a:srgbClr val="C6E600"/>
              </a:solidFill>
              <a:effectLst/>
            </c:spPr>
          </c:dPt>
          <c:dPt>
            <c:idx val="2"/>
            <c:bubble3D val="0"/>
            <c:spPr>
              <a:solidFill>
                <a:srgbClr val="5CA8FF"/>
              </a:solidFill>
              <a:effectLst/>
            </c:spPr>
          </c:dPt>
          <c:dPt>
            <c:idx val="3"/>
            <c:bubble3D val="0"/>
            <c:spPr>
              <a:solidFill>
                <a:srgbClr val="5A5A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1212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Personal &amp; car related issue</c:v>
                </c:pt>
                <c:pt idx="1">
                  <c:v>Customer related issue</c:v>
                </c:pt>
                <c:pt idx="2">
                  <c:v>Customer coughing/sick</c:v>
                </c:pt>
                <c:pt idx="3">
                  <c:v>Too many people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2500</c:v>
                </c:pt>
                <c:pt idx="1">
                  <c:v>2120</c:v>
                </c:pt>
                <c:pt idx="2">
                  <c:v>1430</c:v>
                </c:pt>
                <c:pt idx="3">
                  <c:v>1150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A6A6A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Driver Rating</c:v>
                </c:pt>
              </c:strCache>
            </c:strRef>
          </c:tx>
          <c:spPr>
            <a:solidFill>
              <a:srgbClr val="C6E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Prime Sedan</c:v>
                  </c:pt>
                  <c:pt idx="1">
                    <c:v>Prime SUV</c:v>
                  </c:pt>
                  <c:pt idx="2">
                    <c:v>Prime Plus</c:v>
                  </c:pt>
                  <c:pt idx="3">
                    <c:v>Mini</c:v>
                  </c:pt>
                  <c:pt idx="4">
                    <c:v>Auto</c:v>
                  </c:pt>
                  <c:pt idx="5">
                    <c:v>Bike</c:v>
                  </c:pt>
                  <c:pt idx="6">
                    <c:v>E-Bike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4.01</c:v>
                </c:pt>
                <c:pt idx="2">
                  <c:v>4.01</c:v>
                </c:pt>
                <c:pt idx="3">
                  <c:v>3.99</c:v>
                </c:pt>
                <c:pt idx="4">
                  <c:v>3.99</c:v>
                </c:pt>
                <c:pt idx="5">
                  <c:v>3.98</c:v>
                </c:pt>
                <c:pt idx="6">
                  <c:v>4.02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Rating</c:v>
                </c:pt>
              </c:strCache>
            </c:strRef>
          </c:tx>
          <c:spPr>
            <a:solidFill>
              <a:srgbClr val="5CA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Prime Sedan</c:v>
                  </c:pt>
                  <c:pt idx="1">
                    <c:v>Prime SUV</c:v>
                  </c:pt>
                  <c:pt idx="2">
                    <c:v>Prime Plus</c:v>
                  </c:pt>
                  <c:pt idx="3">
                    <c:v>Mini</c:v>
                  </c:pt>
                  <c:pt idx="4">
                    <c:v>Auto</c:v>
                  </c:pt>
                  <c:pt idx="5">
                    <c:v>Bike</c:v>
                  </c:pt>
                  <c:pt idx="6">
                    <c:v>E-Bike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3.99</c:v>
                </c:pt>
                <c:pt idx="1">
                  <c:v>3.99</c:v>
                </c:pt>
                <c:pt idx="2">
                  <c:v>4</c:v>
                </c:pt>
                <c:pt idx="3">
                  <c:v>4.01</c:v>
                </c:pt>
                <c:pt idx="4">
                  <c:v>4</c:v>
                </c:pt>
                <c:pt idx="5">
                  <c:v>3.98</c:v>
                </c:pt>
                <c:pt idx="6">
                  <c:v>3.99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05"/>
          <c:min val="3.9"/>
        </c:scaling>
        <c:delete val="0"/>
        <c:axPos val="l"/>
        <c:majorGridlines>
          <c:spPr>
            <a:ln w="12700" cap="flat">
              <a:solidFill>
                <a:srgbClr val="26262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A6A6A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2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21212"/>
          </a:solidFill>
          <a:ln w="38100">
            <a:solidFill>
              <a:srgbClr val="C6E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1051560"/>
            <a:ext cx="365760" cy="365760"/>
          </a:xfrm>
          <a:prstGeom prst="ellipse">
            <a:avLst/>
          </a:prstGeom>
          <a:solidFill>
            <a:srgbClr val="C6E6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0" y="822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RIDE-BOOKING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PROJECT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of 40,000+ ride bookings — from raw data to an interactive Power BI dashboard, powered by SQL business queries.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8FAE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206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512064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8FAE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51206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5120640"/>
            <a:ext cx="1499616" cy="457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8FAE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512064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 analyzed: 01 Jul 2024 – 30 Jul 2024   |   Portfolio Showcase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C6E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Ola cab-booking dataset was cleaned, queried, and visualized to uncover booking trends, cancellation drivers, revenue patterns, and service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A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776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structured 40,539 booking records (Date, Time, Status, Vehicle, Locations, TAT, Ratings) in Excel.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5146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A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9776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10 business questions with MySQL views — cancellations, top customers, ratings, revenue by payment mode.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5146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1E1E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A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9776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5-page interactive Power BI dashboard: Overall, Vehicle Type, Revenue, Cancellation, Ratings.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35440" y="25146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1E1E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A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Delivery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39776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actionable insights on cancellation causes, top-performing vehicle types, and revenue channels.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C6E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at a Glance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 from the Overall dashboard page, 01–30 Jul 2024.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E1E1E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40.54K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E1E1E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₹22M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E1E1E"/>
          </a:solidFill>
          <a:ln w="15875">
            <a:solidFill>
              <a:srgbClr val="5CA8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C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62.18%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23960" y="23317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1E1E1E"/>
          </a:solidFill>
          <a:ln w="15875">
            <a:solidFill>
              <a:srgbClr val="FF5C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2396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27.76%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Status Breakdown</a:t>
            </a:r>
            <a:endParaRPr lang="en-US" sz="15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4709160"/>
          <a:ext cx="39319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846320" y="489204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dominates at 62%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bookings, but nearly 2 in 5 rides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lost to cancellations or driver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unavailability — a key improvement area.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C6E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 Volume Over Time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ride volume fluctuated between ~1,300–1,400 rides/day through July, with recurring weekly peaks.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C6E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by Vehicle Type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and E-Bike lead in booking value and distance covered; Auto trips are short-haul by nature.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374904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2194560"/>
                <a:gridCol w="2194560"/>
                <a:gridCol w="2194560"/>
              </a:tblGrid>
              <a:tr h="4686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Booking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Booking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Distance (km)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12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60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Sedan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SUV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5.864K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3.582K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Plus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5.679K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3.471K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5.639K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3.506K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5.788K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3.587K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5.878K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2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E-Bike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5.881K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3.685K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C6E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Payment Method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UPI together account for the large majority of booking value; card payments remain a small share.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126480" y="2148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Trend (Ride Distance × Bookings)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126480" y="256032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Rides Get Cancelled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40.54K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600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25.21K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057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Bookings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600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11.29K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057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Bookings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823960" y="1600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27.76%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2057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06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by Customer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292608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126480" y="2606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by Driver</a:t>
            </a:r>
            <a:endParaRPr lang="en-US" sz="13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126480" y="292608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C6E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Quality by Vehicle Type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and customer ratings stay tightly clustered around 4.0 across every vehicle type — a consistent, healthy service experience.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286000"/>
          <a:ext cx="11247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C6E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Business Questions Solved with SQL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was built as a reusable MySQL VIEW, then queried — mirroring how these insights would run in production.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29514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successful bookings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307238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926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ride distance per vehicle type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384962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703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 cancelled by customers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462686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480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ride count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525780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" y="540410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5404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5257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cancelled by drivers (personal / car issues)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214884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27" name="Shape 25"/>
          <p:cNvSpPr/>
          <p:nvPr/>
        </p:nvSpPr>
        <p:spPr>
          <a:xfrm>
            <a:off x="6336792" y="229514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36792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&amp; min driver rating for Prime Sedan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72200" y="292608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31" name="Shape 29"/>
          <p:cNvSpPr/>
          <p:nvPr/>
        </p:nvSpPr>
        <p:spPr>
          <a:xfrm>
            <a:off x="6336792" y="307238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36792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2926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rides paid via UPI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72200" y="370332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35" name="Shape 33"/>
          <p:cNvSpPr/>
          <p:nvPr/>
        </p:nvSpPr>
        <p:spPr>
          <a:xfrm>
            <a:off x="6336792" y="384962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36792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703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 per vehicle type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72200" y="448056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39" name="Shape 37"/>
          <p:cNvSpPr/>
          <p:nvPr/>
        </p:nvSpPr>
        <p:spPr>
          <a:xfrm>
            <a:off x="6336792" y="462686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36792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4480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 value of successful rides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172200" y="525780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/>
        </p:spPr>
      </p:sp>
      <p:sp>
        <p:nvSpPr>
          <p:cNvPr id="43" name="Shape 41"/>
          <p:cNvSpPr/>
          <p:nvPr/>
        </p:nvSpPr>
        <p:spPr>
          <a:xfrm>
            <a:off x="6336792" y="5404104"/>
            <a:ext cx="347472" cy="347472"/>
          </a:xfrm>
          <a:prstGeom prst="ellipse">
            <a:avLst/>
          </a:prstGeom>
          <a:solidFill>
            <a:srgbClr val="121212"/>
          </a:solidFill>
          <a:ln w="15875">
            <a:solidFill>
              <a:srgbClr val="C6E6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36792" y="5404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812280" y="5257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rides with reasons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C6E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 Applied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9050">
            <a:solidFill>
              <a:srgbClr val="C6E6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structuring 40K+ rows, pivot summaries, and quick-check formulas before modeling.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9050">
            <a:solidFill>
              <a:srgbClr val="C6E6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5661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SELECT queries, CREATE VIEW, aggregations (COUNT, SUM, AVG, MAX/MIN), GROUP BY &amp; filtering.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9050">
            <a:solidFill>
              <a:srgbClr val="C6E6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5661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5-page interactive dashboard with slicers, KPI cards, pie/line/bar visuals, and drill-through.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23960" y="1828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1E1E"/>
          </a:solidFill>
          <a:ln/>
        </p:spPr>
      </p:sp>
      <p:sp>
        <p:nvSpPr>
          <p:cNvPr id="18" name="Shape 16"/>
          <p:cNvSpPr/>
          <p:nvPr/>
        </p:nvSpPr>
        <p:spPr>
          <a:xfrm>
            <a:off x="909828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9050">
            <a:solidFill>
              <a:srgbClr val="C6E6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35661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raw numbers into clear business insights on bookings, cancellations, revenue &amp; ratings.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12700">
            <a:solidFill>
              <a:srgbClr val="C6E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92224"/>
            <a:ext cx="128016" cy="128016"/>
          </a:xfrm>
          <a:prstGeom prst="ellipse">
            <a:avLst/>
          </a:prstGeom>
          <a:solidFill>
            <a:srgbClr val="C6E6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62% of bookings succeed — driver cancellations (18%) are the single largest loss category, ahead of customer cancellations and driver-not-found combined.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706624"/>
            <a:ext cx="128016" cy="128016"/>
          </a:xfrm>
          <a:prstGeom prst="ellipse">
            <a:avLst/>
          </a:prstGeom>
          <a:solidFill>
            <a:srgbClr val="C6E6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560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UPI drive nearly all booking value, so digital-payment incentives could shift volume toward lower-friction channels.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621024"/>
            <a:ext cx="128016" cy="128016"/>
          </a:xfrm>
          <a:prstGeom prst="ellipse">
            <a:avLst/>
          </a:prstGeom>
          <a:solidFill>
            <a:srgbClr val="C6E6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747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and E-Bike post the highest total distance and booking value per category, signalling strong two-wheeler demand.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535424"/>
            <a:ext cx="128016" cy="128016"/>
          </a:xfrm>
          <a:prstGeom prst="ellipse">
            <a:avLst/>
          </a:prstGeom>
          <a:solidFill>
            <a:srgbClr val="C6E6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389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stable near 4.0 across every vehicle type for both drivers and customers — service quality is consistent, not a differentiator between vehicle classes.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5449824"/>
            <a:ext cx="128016" cy="128016"/>
          </a:xfrm>
          <a:prstGeom prst="ellipse">
            <a:avLst/>
          </a:prstGeom>
          <a:solidFill>
            <a:srgbClr val="C6E6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303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"Driver not moving toward pickup" and "personal &amp; car related issues" are the top cancellation reasons on each side — pointing to driver allocation and vehicle-readiness as the biggest levers to cut cancellations.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ANALYTICS  |  DATA ANALYTICS PROJECT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685800" cy="685800"/>
          </a:xfrm>
          <a:prstGeom prst="ellipse">
            <a:avLst/>
          </a:prstGeom>
          <a:solidFill>
            <a:srgbClr val="121212"/>
          </a:solidFill>
          <a:ln w="31750">
            <a:solidFill>
              <a:srgbClr val="C6E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914400"/>
            <a:ext cx="320040" cy="320040"/>
          </a:xfrm>
          <a:prstGeom prst="ellipse">
            <a:avLst/>
          </a:prstGeom>
          <a:solidFill>
            <a:srgbClr val="C6E6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Ride-Booking Data Analytics Project — Excel · MySQL · Power BI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queries, dataset, and the interactive Power BI dashboard file are available on request / linked below.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1E1E1E"/>
          </a:solidFill>
          <a:ln w="12700">
            <a:solidFill>
              <a:srgbClr val="8FAE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71800" y="48463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1E1E1E"/>
          </a:solidFill>
          <a:ln w="12700">
            <a:solidFill>
              <a:srgbClr val="8FAE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48463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1E1E1E"/>
          </a:solidFill>
          <a:ln w="12700">
            <a:solidFill>
              <a:srgbClr val="8FAE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2026-09-01T21:14:54Z</dcterms:created>
  <dcterms:modified xsi:type="dcterms:W3CDTF">2026-09-01T21:14:54Z</dcterms:modified>
</cp:coreProperties>
</file>